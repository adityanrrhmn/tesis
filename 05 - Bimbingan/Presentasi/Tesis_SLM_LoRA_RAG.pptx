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6" r:id="rId5"/>
    <p:sldId id="262" r:id="rId6"/>
    <p:sldId id="267" r:id="rId7"/>
    <p:sldId id="265" r:id="rId8"/>
    <p:sldId id="268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16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133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135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879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825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462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tatsu-lab/alpaca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5074920"/>
            <a:ext cx="8979408" cy="685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PROPOSAL TESIS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69903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Small Language Model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Fine-Tuning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Re-Ranked Retrieval-Augmented Generation pada AI Agent Workflow Automation</a:t>
            </a:r>
          </a:p>
          <a:p>
            <a:pPr marL="0" indent="0">
              <a:lnSpc>
                <a:spcPct val="110000"/>
              </a:lnSpc>
              <a:buNone/>
            </a:pP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228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Nurrohman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14835"/>
            <a:ext cx="8229600" cy="2194560"/>
          </a:xfrm>
          <a:prstGeom prst="rect">
            <a:avLst/>
          </a:prstGeom>
          <a:solidFill>
            <a:srgbClr val="E8F5F7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14835"/>
            <a:ext cx="109728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60555"/>
            <a:ext cx="7955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  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mengoptimalkan akurasi </a:t>
            </a:r>
            <a:r>
              <a:rPr lang="en-US" sz="16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local small language model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re-ranked retrieval-augmented generation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pada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untuk 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❞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PENELITIAN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VARIABEL INDEPENDEN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023360" cy="1828800"/>
          </a:xfrm>
          <a:prstGeom prst="rect">
            <a:avLst/>
          </a:prstGeom>
          <a:solidFill>
            <a:srgbClr val="E8F5F7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08760"/>
            <a:ext cx="91440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36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LoRA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ID" sz="900" b="1" dirty="0"/>
              <a:t>Fine-Tuning </a:t>
            </a:r>
            <a:r>
              <a:rPr lang="en-ID" sz="900" b="1" dirty="0" err="1"/>
              <a:t>LoRA</a:t>
            </a:r>
            <a:r>
              <a:rPr lang="en-ID" sz="900" b="1" dirty="0"/>
              <a:t> (Low-Rank Adaptation)</a:t>
            </a:r>
            <a:r>
              <a:rPr lang="en-ID" sz="900" dirty="0"/>
              <a:t> </a:t>
            </a:r>
            <a:r>
              <a:rPr lang="en-ID" sz="900" dirty="0" err="1"/>
              <a:t>adalah</a:t>
            </a:r>
            <a:r>
              <a:rPr lang="en-ID" sz="900" dirty="0"/>
              <a:t> </a:t>
            </a:r>
            <a:r>
              <a:rPr lang="en-ID" sz="900" dirty="0" err="1"/>
              <a:t>metode</a:t>
            </a:r>
            <a:r>
              <a:rPr lang="en-ID" sz="900" dirty="0"/>
              <a:t> </a:t>
            </a:r>
            <a:r>
              <a:rPr lang="en-ID" sz="900" dirty="0" err="1"/>
              <a:t>adaptasi</a:t>
            </a:r>
            <a:r>
              <a:rPr lang="en-ID" sz="900" dirty="0"/>
              <a:t> model </a:t>
            </a:r>
            <a:r>
              <a:rPr lang="en-ID" sz="900" dirty="0" err="1"/>
              <a:t>bahasa</a:t>
            </a:r>
            <a:r>
              <a:rPr lang="en-ID" sz="900" dirty="0"/>
              <a:t> </a:t>
            </a:r>
            <a:r>
              <a:rPr lang="en-ID" sz="900" dirty="0" err="1"/>
              <a:t>besar</a:t>
            </a:r>
            <a:r>
              <a:rPr lang="en-ID" sz="900" dirty="0"/>
              <a:t> (</a:t>
            </a:r>
            <a:r>
              <a:rPr lang="en-ID" sz="900" i="1" dirty="0"/>
              <a:t>Large Language Model/LLM</a:t>
            </a:r>
            <a:r>
              <a:rPr lang="en-ID" sz="900" dirty="0"/>
              <a:t>) yang </a:t>
            </a:r>
            <a:r>
              <a:rPr lang="en-ID" sz="900" dirty="0" err="1"/>
              <a:t>bertujuan</a:t>
            </a:r>
            <a:r>
              <a:rPr lang="en-ID" sz="900" dirty="0"/>
              <a:t> </a:t>
            </a:r>
            <a:r>
              <a:rPr lang="en-ID" sz="900" dirty="0" err="1"/>
              <a:t>menyesuaikan</a:t>
            </a:r>
            <a:r>
              <a:rPr lang="en-ID" sz="900" dirty="0"/>
              <a:t> </a:t>
            </a:r>
            <a:r>
              <a:rPr lang="en-ID" sz="900" dirty="0" err="1"/>
              <a:t>kemampuan</a:t>
            </a:r>
            <a:r>
              <a:rPr lang="en-ID" sz="900" dirty="0"/>
              <a:t> model </a:t>
            </a:r>
            <a:r>
              <a:rPr lang="en-ID" sz="900" dirty="0" err="1"/>
              <a:t>terhadap</a:t>
            </a:r>
            <a:r>
              <a:rPr lang="en-ID" sz="900" dirty="0"/>
              <a:t> </a:t>
            </a:r>
            <a:r>
              <a:rPr lang="en-ID" sz="900" dirty="0" err="1"/>
              <a:t>tugas</a:t>
            </a:r>
            <a:r>
              <a:rPr lang="en-ID" sz="900" dirty="0"/>
              <a:t> </a:t>
            </a:r>
            <a:r>
              <a:rPr lang="en-ID" sz="900" dirty="0" err="1"/>
              <a:t>atau</a:t>
            </a:r>
            <a:r>
              <a:rPr lang="en-ID" sz="900" dirty="0"/>
              <a:t> domain </a:t>
            </a:r>
            <a:r>
              <a:rPr lang="en-ID" sz="900" dirty="0" err="1"/>
              <a:t>tertentu</a:t>
            </a:r>
            <a:r>
              <a:rPr lang="en-ID" sz="900" dirty="0"/>
              <a:t> </a:t>
            </a:r>
            <a:r>
              <a:rPr lang="en-ID" sz="900" dirty="0" err="1"/>
              <a:t>tanpa</a:t>
            </a:r>
            <a:r>
              <a:rPr lang="en-ID" sz="900" dirty="0"/>
              <a:t> </a:t>
            </a:r>
            <a:r>
              <a:rPr lang="en-ID" sz="900" dirty="0" err="1"/>
              <a:t>perlu</a:t>
            </a:r>
            <a:r>
              <a:rPr lang="en-ID" sz="900" dirty="0"/>
              <a:t> </a:t>
            </a:r>
            <a:r>
              <a:rPr lang="en-ID" sz="900" dirty="0" err="1"/>
              <a:t>memperbarui</a:t>
            </a:r>
            <a:r>
              <a:rPr lang="en-ID" sz="900" dirty="0"/>
              <a:t> </a:t>
            </a:r>
            <a:r>
              <a:rPr lang="en-ID" sz="900" dirty="0" err="1"/>
              <a:t>seluruh</a:t>
            </a:r>
            <a:r>
              <a:rPr lang="en-ID" sz="900" dirty="0"/>
              <a:t> parameter model </a:t>
            </a:r>
            <a:r>
              <a:rPr lang="en-ID" sz="900" dirty="0" err="1"/>
              <a:t>utama</a:t>
            </a:r>
            <a:r>
              <a:rPr lang="en-ID" sz="900" dirty="0"/>
              <a:t>. 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</a:rPr>
              <a:t>Indikator Pengukuran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1508760"/>
            <a:ext cx="4023360" cy="1828800"/>
          </a:xfrm>
          <a:prstGeom prst="rect">
            <a:avLst/>
          </a:prstGeom>
          <a:solidFill>
            <a:srgbClr val="E8F5F7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508760"/>
            <a:ext cx="91440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53619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66360" y="15727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Re-Ranked RAG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192024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ID" sz="900" b="1" dirty="0"/>
              <a:t>Re-Ranked RAG (Re-Ranked Retrieval-Augmented Generation)</a:t>
            </a:r>
            <a:r>
              <a:rPr lang="en-ID" sz="900" dirty="0"/>
              <a:t> </a:t>
            </a:r>
            <a:r>
              <a:rPr lang="en-ID" sz="900" dirty="0" err="1"/>
              <a:t>adalah</a:t>
            </a:r>
            <a:r>
              <a:rPr lang="en-ID" sz="900" dirty="0"/>
              <a:t> </a:t>
            </a:r>
            <a:r>
              <a:rPr lang="en-ID" sz="900" dirty="0" err="1"/>
              <a:t>pengembangan</a:t>
            </a:r>
            <a:r>
              <a:rPr lang="en-ID" sz="900" dirty="0"/>
              <a:t> </a:t>
            </a:r>
            <a:r>
              <a:rPr lang="en-ID" sz="900" dirty="0" err="1"/>
              <a:t>dari</a:t>
            </a:r>
            <a:r>
              <a:rPr lang="en-ID" sz="900" dirty="0"/>
              <a:t> </a:t>
            </a:r>
            <a:r>
              <a:rPr lang="en-ID" sz="900" dirty="0" err="1"/>
              <a:t>arsitektur</a:t>
            </a:r>
            <a:r>
              <a:rPr lang="en-ID" sz="900" dirty="0"/>
              <a:t> </a:t>
            </a:r>
            <a:r>
              <a:rPr lang="en-ID" sz="900" i="1" dirty="0"/>
              <a:t>Retrieval-Augmented Generation (RAG)</a:t>
            </a:r>
            <a:r>
              <a:rPr lang="en-ID" sz="900" dirty="0"/>
              <a:t> yang </a:t>
            </a:r>
            <a:r>
              <a:rPr lang="en-ID" sz="900" dirty="0" err="1"/>
              <a:t>menambahkan</a:t>
            </a:r>
            <a:r>
              <a:rPr lang="en-ID" sz="900" dirty="0"/>
              <a:t> </a:t>
            </a:r>
            <a:r>
              <a:rPr lang="en-ID" sz="900" dirty="0" err="1"/>
              <a:t>tahap</a:t>
            </a:r>
            <a:r>
              <a:rPr lang="en-ID" sz="900" dirty="0"/>
              <a:t> </a:t>
            </a:r>
            <a:r>
              <a:rPr lang="en-ID" sz="900" i="1" dirty="0"/>
              <a:t>re-ranking</a:t>
            </a:r>
            <a:r>
              <a:rPr lang="en-ID" sz="900" dirty="0"/>
              <a:t> </a:t>
            </a:r>
            <a:r>
              <a:rPr lang="en-ID" sz="900" dirty="0" err="1"/>
              <a:t>untuk</a:t>
            </a:r>
            <a:r>
              <a:rPr lang="en-ID" sz="900" dirty="0"/>
              <a:t> </a:t>
            </a:r>
            <a:r>
              <a:rPr lang="en-ID" sz="900" dirty="0" err="1"/>
              <a:t>meningkatkan</a:t>
            </a:r>
            <a:r>
              <a:rPr lang="en-ID" sz="900" dirty="0"/>
              <a:t> </a:t>
            </a:r>
            <a:r>
              <a:rPr lang="en-ID" sz="900" dirty="0" err="1"/>
              <a:t>relevansi</a:t>
            </a:r>
            <a:r>
              <a:rPr lang="en-ID" sz="900" dirty="0"/>
              <a:t> </a:t>
            </a:r>
            <a:r>
              <a:rPr lang="en-ID" sz="900" dirty="0" err="1"/>
              <a:t>informasi</a:t>
            </a:r>
            <a:r>
              <a:rPr lang="en-ID" sz="900" dirty="0"/>
              <a:t> </a:t>
            </a:r>
            <a:r>
              <a:rPr lang="en-ID" sz="900" dirty="0" err="1"/>
              <a:t>sebelum</a:t>
            </a:r>
            <a:r>
              <a:rPr lang="en-ID" sz="900" dirty="0"/>
              <a:t> </a:t>
            </a:r>
            <a:r>
              <a:rPr lang="en-ID" sz="900" dirty="0" err="1"/>
              <a:t>diberikan</a:t>
            </a:r>
            <a:r>
              <a:rPr lang="en-ID" sz="900" dirty="0"/>
              <a:t> </a:t>
            </a:r>
            <a:r>
              <a:rPr lang="en-ID" sz="900" dirty="0" err="1"/>
              <a:t>kepada</a:t>
            </a:r>
            <a:r>
              <a:rPr lang="en-ID" sz="900" dirty="0"/>
              <a:t> model </a:t>
            </a:r>
            <a:r>
              <a:rPr lang="en-ID" sz="900" dirty="0" err="1"/>
              <a:t>bahasa</a:t>
            </a:r>
            <a:r>
              <a:rPr lang="en-ID" sz="900" dirty="0"/>
              <a:t> </a:t>
            </a:r>
            <a:r>
              <a:rPr lang="en-ID" sz="900" dirty="0" err="1"/>
              <a:t>besar</a:t>
            </a:r>
            <a:r>
              <a:rPr lang="en-ID" sz="900" dirty="0"/>
              <a:t> (</a:t>
            </a:r>
            <a:r>
              <a:rPr lang="en-ID" sz="900" i="1" dirty="0"/>
              <a:t>Large Language Model/LLM</a:t>
            </a:r>
            <a:r>
              <a:rPr lang="en-ID" sz="900" dirty="0"/>
              <a:t>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88620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VARIABEL DEPENDEN  (Y)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33672"/>
            <a:ext cx="8412480" cy="749808"/>
          </a:xfrm>
          <a:prstGeom prst="rect">
            <a:avLst/>
          </a:prstGeom>
          <a:solidFill>
            <a:srgbClr val="E8F5F7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25196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— Akurasi Local SLM pada AI Agent Workflow Automation
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Diukur melalui: F1-Score  |  Exact Match (EM)  |  ROUGE-L  |  Task Completion Rate  |  Response Latency (ms)  |  Hallucination Rate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LITERATUR TERDAHULU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05</a:t>
            </a:r>
            <a:endParaRPr lang="en-US" sz="9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587EE9-18BB-4459-B2DD-0232B7B4D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514020"/>
              </p:ext>
            </p:extLst>
          </p:nvPr>
        </p:nvGraphicFramePr>
        <p:xfrm>
          <a:off x="89522" y="1016709"/>
          <a:ext cx="8871600" cy="401568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49381">
                  <a:extLst>
                    <a:ext uri="{9D8B030D-6E8A-4147-A177-3AD203B41FA5}">
                      <a16:colId xmlns:a16="http://schemas.microsoft.com/office/drawing/2014/main" val="861335451"/>
                    </a:ext>
                  </a:extLst>
                </a:gridCol>
                <a:gridCol w="1694518">
                  <a:extLst>
                    <a:ext uri="{9D8B030D-6E8A-4147-A177-3AD203B41FA5}">
                      <a16:colId xmlns:a16="http://schemas.microsoft.com/office/drawing/2014/main" val="3075553912"/>
                    </a:ext>
                  </a:extLst>
                </a:gridCol>
                <a:gridCol w="1752067">
                  <a:extLst>
                    <a:ext uri="{9D8B030D-6E8A-4147-A177-3AD203B41FA5}">
                      <a16:colId xmlns:a16="http://schemas.microsoft.com/office/drawing/2014/main" val="2235152896"/>
                    </a:ext>
                  </a:extLst>
                </a:gridCol>
                <a:gridCol w="1438741">
                  <a:extLst>
                    <a:ext uri="{9D8B030D-6E8A-4147-A177-3AD203B41FA5}">
                      <a16:colId xmlns:a16="http://schemas.microsoft.com/office/drawing/2014/main" val="2275927352"/>
                    </a:ext>
                  </a:extLst>
                </a:gridCol>
                <a:gridCol w="1963083">
                  <a:extLst>
                    <a:ext uri="{9D8B030D-6E8A-4147-A177-3AD203B41FA5}">
                      <a16:colId xmlns:a16="http://schemas.microsoft.com/office/drawing/2014/main" val="2468326046"/>
                    </a:ext>
                  </a:extLst>
                </a:gridCol>
                <a:gridCol w="1773810">
                  <a:extLst>
                    <a:ext uri="{9D8B030D-6E8A-4147-A177-3AD203B41FA5}">
                      <a16:colId xmlns:a16="http://schemas.microsoft.com/office/drawing/2014/main" val="979277777"/>
                    </a:ext>
                  </a:extLst>
                </a:gridCol>
              </a:tblGrid>
              <a:tr h="107885">
                <a:tc>
                  <a:txBody>
                    <a:bodyPr/>
                    <a:lstStyle/>
                    <a:p>
                      <a:r>
                        <a:rPr lang="en-ID" sz="600"/>
                        <a:t>No</a:t>
                      </a:r>
                    </a:p>
                  </a:txBody>
                  <a:tcPr marL="6347" marR="6347" marT="3173" marB="3173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Judul</a:t>
                      </a:r>
                    </a:p>
                  </a:txBody>
                  <a:tcPr marL="6347" marR="6347" marT="3173" marB="3173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Jenis Data</a:t>
                      </a:r>
                    </a:p>
                  </a:txBody>
                  <a:tcPr marL="6347" marR="6347" marT="3173" marB="3173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Metode Utama</a:t>
                      </a:r>
                    </a:p>
                  </a:txBody>
                  <a:tcPr marL="6347" marR="6347" marT="3173" marB="3173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Deskripsi Singkat</a:t>
                      </a:r>
                    </a:p>
                  </a:txBody>
                  <a:tcPr marL="6347" marR="6347" marT="3173" marB="3173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/>
                        <a:t>Hasil Model</a:t>
                      </a:r>
                    </a:p>
                  </a:txBody>
                  <a:tcPr marL="6347" marR="6347" marT="3173" marB="3173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602665"/>
                  </a:ext>
                </a:extLst>
              </a:tr>
              <a:tr h="612305">
                <a:tc>
                  <a:txBody>
                    <a:bodyPr/>
                    <a:lstStyle/>
                    <a:p>
                      <a:r>
                        <a:rPr lang="en-ID" sz="600" dirty="0"/>
                        <a:t>1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Enhancing Large Language Models for Specialized Domains: A Two-Stage Framework with Parameter-Sensitive </a:t>
                      </a:r>
                      <a:r>
                        <a:rPr lang="en-US" sz="600" dirty="0" err="1"/>
                        <a:t>LoRA</a:t>
                      </a:r>
                      <a:r>
                        <a:rPr lang="en-US" sz="600" dirty="0"/>
                        <a:t> Fine-Tuning and Chain-of-Thought RAG (</a:t>
                      </a:r>
                      <a:r>
                        <a:rPr lang="en-US" sz="600" dirty="0" err="1"/>
                        <a:t>SensiLoRA</a:t>
                      </a:r>
                      <a:r>
                        <a:rPr lang="en-US" sz="600" dirty="0"/>
                        <a:t>-RAG) — Ren et al., Electronics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i-FI" sz="600" dirty="0"/>
                        <a:t>QA dataset domain hukum &amp; kesehatan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LoRA fine-tuning (parameter-sensitive) + Chain-of-Thought RAG (two-stage hybrid)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Kerangka dua tahap: (1) LoRA “sensitif parameter” untuk adaptasi cepat ke domain spesifik dengan data terbatas, (2) CoT-RAG untuk integrasi pengetahuan real-time. Sangat relevan karena kombinasi LoRA + RAG mirip arsitektur tesis.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Outperform baseline LLM secara signifikan di tugas QA domain hukum &amp; kesehatan; kombinasi LoRA + CoT-RAG meningkatkan akurasi domain dan integrasi pengetahuan dinamis.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295270"/>
                  </a:ext>
                </a:extLst>
              </a:tr>
              <a:tr h="511422">
                <a:tc>
                  <a:txBody>
                    <a:bodyPr/>
                    <a:lstStyle/>
                    <a:p>
                      <a:r>
                        <a:rPr lang="en-ID" sz="600"/>
                        <a:t>2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Enhancing Plant Protection Knowledge with Large Language Models: A Fine-Tuned Question-Answering System Using LoRA — Xiong et al., Applied Sciences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9.000 pasangan QA dari 568 paper &amp; buku plant protection (vektorisasi 7.000 dokumen)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LoRA fine-tuning pada InterLM-20B + RAG via LangChain-ChatChat dengan local knowledge base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Membangun QA system pertanian dengan local LLM yang difine-tune LoRA, lalu ditambah RAG untuk grounding ke knowledge base lokal untuk mitigasi halusinasi.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 err="1"/>
                        <a:t>Akurasi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jawaban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mencapai</a:t>
                      </a:r>
                      <a:r>
                        <a:rPr lang="en-ID" sz="600" dirty="0"/>
                        <a:t> 97%; </a:t>
                      </a:r>
                      <a:r>
                        <a:rPr lang="en-ID" sz="600" dirty="0" err="1"/>
                        <a:t>kombinasi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LoRA</a:t>
                      </a:r>
                      <a:r>
                        <a:rPr lang="en-ID" sz="600" dirty="0"/>
                        <a:t> + RAG </a:t>
                      </a:r>
                      <a:r>
                        <a:rPr lang="en-ID" sz="600" dirty="0" err="1"/>
                        <a:t>terbukti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efektif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mengurangi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halusinasi</a:t>
                      </a:r>
                      <a:r>
                        <a:rPr lang="en-ID" sz="600" dirty="0"/>
                        <a:t>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43187"/>
                  </a:ext>
                </a:extLst>
              </a:tr>
              <a:tr h="410537">
                <a:tc>
                  <a:txBody>
                    <a:bodyPr/>
                    <a:lstStyle/>
                    <a:p>
                      <a:r>
                        <a:rPr lang="en-ID" sz="600"/>
                        <a:t>3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LoRA-Tuned Multimodal RAG System for Technical Manual QA: A Case Study on Hyundai Staria — Kwon, Applied Sciences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Manual perawatan PDF Hyundai Staria (teks + gambar), dataset QA, RAG, multi-turn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LoRA fine-tuning bLLossom-8B + multimodal RAG + embedding BAAI-bge-m3 + sentence-level similarity annotation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Multimodal RAG domain-adaptive untuk technical manual QA. Relevan untuk AI agent workflow troubleshooting berbasis dokumen teknis.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/>
                        <a:t>Naik +3.0%p </a:t>
                      </a:r>
                      <a:r>
                        <a:rPr lang="en-ID" sz="600" dirty="0" err="1"/>
                        <a:t>BERTScore</a:t>
                      </a:r>
                      <a:r>
                        <a:rPr lang="en-ID" sz="600" dirty="0"/>
                        <a:t>, +3.0%p cosine similarity, +18.0%p ROUGE-L </a:t>
                      </a:r>
                      <a:r>
                        <a:rPr lang="en-ID" sz="600" dirty="0" err="1"/>
                        <a:t>dibanding</a:t>
                      </a:r>
                      <a:r>
                        <a:rPr lang="en-ID" sz="600" dirty="0"/>
                        <a:t> baseline RAG; satisfaction expert 4.4/5.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250196"/>
                  </a:ext>
                </a:extLst>
              </a:tr>
              <a:tr h="511422">
                <a:tc>
                  <a:txBody>
                    <a:bodyPr/>
                    <a:lstStyle/>
                    <a:p>
                      <a:r>
                        <a:rPr lang="en-ID" sz="600"/>
                        <a:t>4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An Intelligent Docent System with a Small Large Language Model (</a:t>
                      </a:r>
                      <a:r>
                        <a:rPr lang="en-US" sz="600" dirty="0" err="1"/>
                        <a:t>sLLM</a:t>
                      </a:r>
                      <a:r>
                        <a:rPr lang="en-US" sz="600" dirty="0"/>
                        <a:t>) Based on Retrieval-Augmented Generation (RAG) — Jung &amp; Joe, Applied Sciences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/>
                        <a:t>199.000 </a:t>
                      </a:r>
                      <a:r>
                        <a:rPr lang="en-ID" sz="600" dirty="0" err="1"/>
                        <a:t>deskripsi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pameran</a:t>
                      </a:r>
                      <a:r>
                        <a:rPr lang="en-ID" sz="600" dirty="0"/>
                        <a:t> + 102.000 </a:t>
                      </a:r>
                      <a:r>
                        <a:rPr lang="en-ID" sz="600" dirty="0" err="1"/>
                        <a:t>pasangan</a:t>
                      </a:r>
                      <a:r>
                        <a:rPr lang="en-ID" sz="600" dirty="0"/>
                        <a:t> QA museum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LoRA fine-tuning Gemma2-9B (sLLM) + RAG dengan FAISS/OpenSearch + Spatio-Contextual Re-Retriever (SC-Retriever)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Sangat relevan: small LLM lokal + LoRA + RAG dengan retriever custom mirip re-ranker untuk deployment domain-specific. Menggunakan LangChain seperti workflow AI agent modern.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 err="1"/>
                        <a:t>DocentGemma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mencapai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akurasi</a:t>
                      </a:r>
                      <a:r>
                        <a:rPr lang="en-ID" sz="600" dirty="0"/>
                        <a:t> 85.55% dan perplexity 3.78; SC-Retriever </a:t>
                      </a:r>
                      <a:r>
                        <a:rPr lang="en-ID" sz="600" dirty="0" err="1"/>
                        <a:t>memperoleh</a:t>
                      </a:r>
                      <a:r>
                        <a:rPr lang="en-ID" sz="600" dirty="0"/>
                        <a:t> recall@1 53.45% dan MRR 68.12, naik 17.5% </a:t>
                      </a:r>
                      <a:r>
                        <a:rPr lang="en-ID" sz="600" dirty="0" err="1"/>
                        <a:t>dibanding</a:t>
                      </a:r>
                      <a:r>
                        <a:rPr lang="en-ID" sz="600" dirty="0"/>
                        <a:t> baseline.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193835"/>
                  </a:ext>
                </a:extLst>
              </a:tr>
              <a:tr h="511422">
                <a:tc>
                  <a:txBody>
                    <a:bodyPr/>
                    <a:lstStyle/>
                    <a:p>
                      <a:r>
                        <a:rPr lang="en-ID" sz="600"/>
                        <a:t>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A Dynamic-Selection-Based, Retrieval-Augmented Generation Framework: Enhancing Multi-Document Question-Answering for Commercial Applications (DS-RAG) — Park et al., Electronics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600"/>
                        <a:t>Custom multi-document QA dataset (500 pertanyaan komersial)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RAG + Entity-Preserving Question Decomposition (EPQD) + Dynamic Selection-based reranking (BGE-Reranker)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Fokus utama pada re-ranking retrieval menggunakan BGE-Reranker untuk seleksi top-k chunk. Sangat cocok untuk justifikasi “Re-Ranked RAG” pada tesis.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/>
                        <a:t>EPQD-Reranking </a:t>
                      </a:r>
                      <a:r>
                        <a:rPr lang="en-ID" sz="600" dirty="0" err="1"/>
                        <a:t>menurunkan</a:t>
                      </a:r>
                      <a:r>
                        <a:rPr lang="en-ID" sz="600" dirty="0"/>
                        <a:t> EOR </a:t>
                      </a:r>
                      <a:r>
                        <a:rPr lang="en-ID" sz="600" dirty="0" err="1"/>
                        <a:t>dari</a:t>
                      </a:r>
                      <a:r>
                        <a:rPr lang="en-ID" sz="600" dirty="0"/>
                        <a:t> 48.67→20.29 (</a:t>
                      </a:r>
                      <a:r>
                        <a:rPr lang="en-ID" sz="600" dirty="0" err="1"/>
                        <a:t>Eksperimen</a:t>
                      </a:r>
                      <a:r>
                        <a:rPr lang="en-ID" sz="600" dirty="0"/>
                        <a:t> 1) dan 70.21→7.38 (</a:t>
                      </a:r>
                      <a:r>
                        <a:rPr lang="en-ID" sz="600" dirty="0" err="1"/>
                        <a:t>Eksperimen</a:t>
                      </a:r>
                      <a:r>
                        <a:rPr lang="en-ID" sz="600" dirty="0"/>
                        <a:t> 2 </a:t>
                      </a:r>
                      <a:r>
                        <a:rPr lang="en-ID" sz="600" dirty="0" err="1"/>
                        <a:t>kompleks</a:t>
                      </a:r>
                      <a:r>
                        <a:rPr lang="en-ID" sz="600" dirty="0"/>
                        <a:t>); reranking </a:t>
                      </a:r>
                      <a:r>
                        <a:rPr lang="en-ID" sz="600" dirty="0" err="1"/>
                        <a:t>signifikan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meningkatkan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presisi</a:t>
                      </a:r>
                      <a:r>
                        <a:rPr lang="en-ID" sz="600" dirty="0"/>
                        <a:t> multi-document QA.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65251"/>
                  </a:ext>
                </a:extLst>
              </a:tr>
              <a:tr h="410537">
                <a:tc>
                  <a:txBody>
                    <a:bodyPr/>
                    <a:lstStyle/>
                    <a:p>
                      <a:r>
                        <a:rPr lang="en-ID" sz="600"/>
                        <a:t>6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SDD-LawLLM: Advancing Intelligent Legal Systems Through Synthetic Data-Driven Fine-Tuning of Large Language Models — Electronics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600"/>
                        <a:t>2K legal CoT data + 20K data umum (rasio 1:10)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LoRA fine-tuning Qwen-7B (rank=8, alpha=16) + RAG + CoT prompts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LoRA + RAG + reasoning enhancement untuk legal QA; arsitektur sangat mirip dengan local 7B model berbasis retrieval dan reasoning.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 err="1"/>
                        <a:t>Akurasi</a:t>
                      </a:r>
                      <a:r>
                        <a:rPr lang="en-ID" sz="600" dirty="0"/>
                        <a:t> dan </a:t>
                      </a:r>
                      <a:r>
                        <a:rPr lang="en-ID" sz="600" dirty="0" err="1"/>
                        <a:t>explainability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meningkat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signifikan</a:t>
                      </a:r>
                      <a:r>
                        <a:rPr lang="en-ID" sz="600" dirty="0"/>
                        <a:t> pada </a:t>
                      </a:r>
                      <a:r>
                        <a:rPr lang="en-ID" sz="600" dirty="0" err="1"/>
                        <a:t>evaluasi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objektif</a:t>
                      </a:r>
                      <a:r>
                        <a:rPr lang="en-ID" sz="600" dirty="0"/>
                        <a:t>; user confidence juga </a:t>
                      </a:r>
                      <a:r>
                        <a:rPr lang="en-ID" sz="600" dirty="0" err="1"/>
                        <a:t>meningkat</a:t>
                      </a:r>
                      <a:r>
                        <a:rPr lang="en-ID" sz="600" dirty="0"/>
                        <a:t> pada </a:t>
                      </a:r>
                      <a:r>
                        <a:rPr lang="en-ID" sz="600" dirty="0" err="1"/>
                        <a:t>evaluasi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subjektif</a:t>
                      </a:r>
                      <a:r>
                        <a:rPr lang="en-ID" sz="600" dirty="0"/>
                        <a:t>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294116"/>
                  </a:ext>
                </a:extLst>
              </a:tr>
              <a:tr h="511422">
                <a:tc>
                  <a:txBody>
                    <a:bodyPr/>
                    <a:lstStyle/>
                    <a:p>
                      <a:r>
                        <a:rPr lang="en-ID" sz="600"/>
                        <a:t>7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Research on Sem-RAG: A Corn Planting Knowledge Question-Answering Algorithm Based on Fine-Grained Semantic Information Retrieval Enhancement — Applied Sciences (MDPI), 2025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Knowledge base corn planting dari multi-source dokumen pertanian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RAG + Dual-Store Retrieval (chunk-level + Leiden community summary) + semantic enhancement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Variasi RAG dengan fine-grained semantic retrieval enhancement yang relevan untuk pembahasan semantic-aware retrieval vs reranking retrieval.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/>
                        <a:t>Answer-C 94.6%, Answer-R 84.6%, dan CR 70.4%; </a:t>
                      </a:r>
                      <a:r>
                        <a:rPr lang="en-ID" sz="600" dirty="0" err="1"/>
                        <a:t>meningkat</a:t>
                      </a:r>
                      <a:r>
                        <a:rPr lang="en-ID" sz="600" dirty="0"/>
                        <a:t> 2.6% / 1.7% / 1.6% </a:t>
                      </a:r>
                      <a:r>
                        <a:rPr lang="en-ID" sz="600" dirty="0" err="1"/>
                        <a:t>dibanding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NaiveRAG</a:t>
                      </a:r>
                      <a:r>
                        <a:rPr lang="en-ID" sz="600" dirty="0"/>
                        <a:t>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210818"/>
                  </a:ext>
                </a:extLst>
              </a:tr>
              <a:tr h="428737">
                <a:tc>
                  <a:txBody>
                    <a:bodyPr/>
                    <a:lstStyle/>
                    <a:p>
                      <a:r>
                        <a:rPr lang="en-ID" sz="600"/>
                        <a:t>8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Automating Systematic Literature Reviews with Retrieval-Augmented Generation: A Comprehensive Overview — Han, Susnjak &amp; Mathrani, Applied Sciences (MDPI), 2024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Review/survey paper (64 referensi)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/>
                        <a:t>Framework RAG untuk systematic literature review automation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/>
                        <a:t>Cocok untuk landasan teori dan positioning AI Agent Workflow Automation berbasis RAG dalam penelitian.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600" dirty="0" err="1"/>
                        <a:t>Bukan</a:t>
                      </a:r>
                      <a:r>
                        <a:rPr lang="en-ID" sz="600" dirty="0"/>
                        <a:t> paper </a:t>
                      </a:r>
                      <a:r>
                        <a:rPr lang="en-ID" sz="600" dirty="0" err="1"/>
                        <a:t>eksperimen</a:t>
                      </a:r>
                      <a:r>
                        <a:rPr lang="en-ID" sz="600" dirty="0"/>
                        <a:t>, </a:t>
                      </a:r>
                      <a:r>
                        <a:rPr lang="en-ID" sz="600" dirty="0" err="1"/>
                        <a:t>tetapi</a:t>
                      </a:r>
                      <a:r>
                        <a:rPr lang="en-ID" sz="600" dirty="0"/>
                        <a:t> </a:t>
                      </a:r>
                      <a:r>
                        <a:rPr lang="en-ID" sz="600" dirty="0" err="1"/>
                        <a:t>memetakan</a:t>
                      </a:r>
                      <a:r>
                        <a:rPr lang="en-ID" sz="600" dirty="0"/>
                        <a:t> 4 </a:t>
                      </a:r>
                      <a:r>
                        <a:rPr lang="en-ID" sz="600" dirty="0" err="1"/>
                        <a:t>tahap</a:t>
                      </a:r>
                      <a:r>
                        <a:rPr lang="en-ID" sz="600" dirty="0"/>
                        <a:t> workflow automation </a:t>
                      </a:r>
                      <a:r>
                        <a:rPr lang="en-ID" sz="600" dirty="0" err="1"/>
                        <a:t>berbasis</a:t>
                      </a:r>
                      <a:r>
                        <a:rPr lang="en-ID" sz="600" dirty="0"/>
                        <a:t> RAG: literature search → screening → data extraction → synthesis.</a:t>
                      </a:r>
                    </a:p>
                  </a:txBody>
                  <a:tcPr marL="6347" marR="6347" marT="3173" marB="317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23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907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PENELITIAN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4023360" cy="1828800"/>
          </a:xfrm>
          <a:prstGeom prst="rect">
            <a:avLst/>
          </a:prstGeom>
          <a:solidFill>
            <a:srgbClr val="E8F5F7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57400"/>
            <a:ext cx="402336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73168" y="21945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773168" y="2194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49240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Re-Ranking Tidak Diintegrasikan dengan LoRA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168" y="2633472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 et al. (2026) menggabungkan RAG + re-ranking tetapi tanpa LoRA fine-tuning. Saha et al. (2024) menggunakan RAG </a:t>
            </a:r>
            <a:r>
              <a:rPr lang="en-US" sz="8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</a:t>
            </a: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fine-tuning. Belum ada yang menggabungkan LoRA + Re-Ranked RAG secara end-to-end pada satu pipeline SLM lokal.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057400"/>
            <a:ext cx="4023360" cy="1828800"/>
          </a:xfrm>
          <a:prstGeom prst="rect">
            <a:avLst/>
          </a:prstGeom>
          <a:solidFill>
            <a:srgbClr val="E8F5F7"/>
          </a:solidFill>
          <a:ln/>
          <a:effectLst>
            <a:outerShdw blurRad="101600" dist="38100" dir="162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057400"/>
            <a:ext cx="4023360" cy="91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384048" y="2194560"/>
            <a:ext cx="502920" cy="347472"/>
          </a:xfrm>
          <a:prstGeom prst="roundRect">
            <a:avLst>
              <a:gd name="adj" fmla="val 13158"/>
            </a:avLst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21945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222199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Workflow Automation dengan SLM Masih Terbatas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2633472"/>
            <a:ext cx="3749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LEGOMem (AAMAS 2026) dan Flow (ICLR 2025) fokus pada arsitektur multi-agent LLM besar. TinyAgent (EMNLP 2024) hanya menyentuh function-calling tanpa RAG. Tidak ada yang mengevaluasi SLM lokal + LoRA + Re-Ranked RAG dalam konteks workflow automation penuh.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54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➜  Tesis ini mengisi gap G1 dan G2 dengan merancang pipeline: Local SLM + LoRA Fine-Tuning + Re-Ranked RAG + AI Agent Workflow Automation secara terintegrasi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DATA TRAINING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75488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Link: </a:t>
            </a:r>
            <a:r>
              <a:rPr lang="en-US" sz="900" b="1" dirty="0">
                <a:solidFill>
                  <a:srgbClr val="02C39A"/>
                </a:solidFill>
                <a:hlinkClick r:id="rId3"/>
              </a:rPr>
              <a:t>https://huggingface.co/datasets/tatsu-lab/alpaca?utm_source=chatgpt.com</a:t>
            </a:r>
            <a:endParaRPr lang="en-US" sz="9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5B08B0-CFE7-4ACA-AC2E-499070CA2A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810" y="1081964"/>
            <a:ext cx="6426379" cy="356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98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1B98A7-0A38-48FC-B62A-C52EDC6DD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8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DI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06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8085C-3499-43CA-935E-20B85B290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9144000" cy="4190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620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PENELITIAN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503920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BD5E1"/>
                </a:solidFill>
              </a:rPr>
              <a:t>07</a:t>
            </a:r>
            <a:endParaRPr lang="en-US" sz="900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15FB2F9-958C-456D-9A37-43E668F17E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36004"/>
              </p:ext>
            </p:extLst>
          </p:nvPr>
        </p:nvGraphicFramePr>
        <p:xfrm>
          <a:off x="409241" y="1091076"/>
          <a:ext cx="8216814" cy="351929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624261">
                  <a:extLst>
                    <a:ext uri="{9D8B030D-6E8A-4147-A177-3AD203B41FA5}">
                      <a16:colId xmlns:a16="http://schemas.microsoft.com/office/drawing/2014/main" val="799410516"/>
                    </a:ext>
                  </a:extLst>
                </a:gridCol>
                <a:gridCol w="882655">
                  <a:extLst>
                    <a:ext uri="{9D8B030D-6E8A-4147-A177-3AD203B41FA5}">
                      <a16:colId xmlns:a16="http://schemas.microsoft.com/office/drawing/2014/main" val="168915452"/>
                    </a:ext>
                  </a:extLst>
                </a:gridCol>
                <a:gridCol w="624988">
                  <a:extLst>
                    <a:ext uri="{9D8B030D-6E8A-4147-A177-3AD203B41FA5}">
                      <a16:colId xmlns:a16="http://schemas.microsoft.com/office/drawing/2014/main" val="2471946239"/>
                    </a:ext>
                  </a:extLst>
                </a:gridCol>
                <a:gridCol w="563054">
                  <a:extLst>
                    <a:ext uri="{9D8B030D-6E8A-4147-A177-3AD203B41FA5}">
                      <a16:colId xmlns:a16="http://schemas.microsoft.com/office/drawing/2014/main" val="4048661878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2804297862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4075175794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350754392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4037360740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489824062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3714687310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2678331379"/>
                    </a:ext>
                  </a:extLst>
                </a:gridCol>
                <a:gridCol w="690232">
                  <a:extLst>
                    <a:ext uri="{9D8B030D-6E8A-4147-A177-3AD203B41FA5}">
                      <a16:colId xmlns:a16="http://schemas.microsoft.com/office/drawing/2014/main" val="3597017460"/>
                    </a:ext>
                  </a:extLst>
                </a:gridCol>
              </a:tblGrid>
              <a:tr h="225901">
                <a:tc>
                  <a:txBody>
                    <a:bodyPr/>
                    <a:lstStyle/>
                    <a:p>
                      <a:r>
                        <a:rPr lang="en-ID" sz="700"/>
                        <a:t>No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Kegiatan Penelitian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Mei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Jun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Jul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Agu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Sep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Okt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Nov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Des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Jan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Feb</a:t>
                      </a:r>
                    </a:p>
                  </a:txBody>
                  <a:tcPr marL="11528" marR="11528" marT="5764" marB="5764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792730"/>
                  </a:ext>
                </a:extLst>
              </a:tr>
              <a:tr h="486556">
                <a:tc>
                  <a:txBody>
                    <a:bodyPr/>
                    <a:lstStyle/>
                    <a:p>
                      <a:r>
                        <a:rPr lang="en-ID" sz="700" dirty="0"/>
                        <a:t>1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Identifikasi masalah &amp; studi literatur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1045813948"/>
                  </a:ext>
                </a:extLst>
              </a:tr>
              <a:tr h="339002">
                <a:tc>
                  <a:txBody>
                    <a:bodyPr/>
                    <a:lstStyle/>
                    <a:p>
                      <a:r>
                        <a:rPr lang="en-ID" sz="700" dirty="0"/>
                        <a:t>2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Penyusunan proposal tesis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4003672142"/>
                  </a:ext>
                </a:extLst>
              </a:tr>
              <a:tr h="486556">
                <a:tc>
                  <a:txBody>
                    <a:bodyPr/>
                    <a:lstStyle/>
                    <a:p>
                      <a:r>
                        <a:rPr lang="en-US" sz="700" dirty="0"/>
                        <a:t>3</a:t>
                      </a:r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Pengumpulan &amp; penyusunan dataset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 dirty="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2540257217"/>
                  </a:ext>
                </a:extLst>
              </a:tr>
              <a:tr h="538686">
                <a:tc>
                  <a:txBody>
                    <a:bodyPr/>
                    <a:lstStyle/>
                    <a:p>
                      <a:r>
                        <a:rPr lang="en-US" sz="700" dirty="0"/>
                        <a:t>4</a:t>
                      </a:r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Fine-tuning Local SLM menggunakan LoRA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 dirty="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2629217442"/>
                  </a:ext>
                </a:extLst>
              </a:tr>
              <a:tr h="382293">
                <a:tc>
                  <a:txBody>
                    <a:bodyPr/>
                    <a:lstStyle/>
                    <a:p>
                      <a:r>
                        <a:rPr lang="en-US" sz="700" dirty="0"/>
                        <a:t>5</a:t>
                      </a:r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Implementasi RAG &amp; re-ranking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3803787387"/>
                  </a:ext>
                </a:extLst>
              </a:tr>
              <a:tr h="382293">
                <a:tc>
                  <a:txBody>
                    <a:bodyPr/>
                    <a:lstStyle/>
                    <a:p>
                      <a:r>
                        <a:rPr lang="en-US" sz="700" dirty="0"/>
                        <a:t>6</a:t>
                      </a:r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Pengujian &amp; evaluasi sistem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 dirty="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2813087523"/>
                  </a:ext>
                </a:extLst>
              </a:tr>
              <a:tr h="339002">
                <a:tc>
                  <a:txBody>
                    <a:bodyPr/>
                    <a:lstStyle/>
                    <a:p>
                      <a:r>
                        <a:rPr lang="en-US" sz="700" dirty="0"/>
                        <a:t>7</a:t>
                      </a:r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Analisis hasil penelitian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3157080804"/>
                  </a:ext>
                </a:extLst>
              </a:tr>
              <a:tr h="339002">
                <a:tc>
                  <a:txBody>
                    <a:bodyPr/>
                    <a:lstStyle/>
                    <a:p>
                      <a:r>
                        <a:rPr lang="en-US" sz="700" dirty="0"/>
                        <a:t>8</a:t>
                      </a:r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/>
                        <a:t>Penulisan tesis &amp; revisi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 dirty="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endParaRPr lang="en-ID" sz="700"/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tc>
                  <a:txBody>
                    <a:bodyPr/>
                    <a:lstStyle/>
                    <a:p>
                      <a:r>
                        <a:rPr lang="en-ID" sz="700" dirty="0"/>
                        <a:t>██████ </a:t>
                      </a:r>
                    </a:p>
                  </a:txBody>
                  <a:tcPr marL="11528" marR="11528" marT="5764" marB="5764" anchor="ctr"/>
                </a:tc>
                <a:extLst>
                  <a:ext uri="{0D108BD9-81ED-4DB2-BD59-A6C34878D82A}">
                    <a16:rowId xmlns:a16="http://schemas.microsoft.com/office/drawing/2014/main" val="3082442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</TotalTime>
  <Words>1216</Words>
  <Application>Microsoft Office PowerPoint</Application>
  <PresentationFormat>On-screen Show (16:9)</PresentationFormat>
  <Paragraphs>148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Optimasi Akurasi Local SLM - Tesis</dc:title>
  <dc:subject>PptxGenJS Presentation</dc:subject>
  <dc:creator>PptxGenJS</dc:creator>
  <cp:lastModifiedBy>Aditya Nurrohman</cp:lastModifiedBy>
  <cp:revision>16</cp:revision>
  <dcterms:created xsi:type="dcterms:W3CDTF">2026-05-09T02:42:51Z</dcterms:created>
  <dcterms:modified xsi:type="dcterms:W3CDTF">2026-05-09T15:29:07Z</dcterms:modified>
</cp:coreProperties>
</file>